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3B"/>
    <a:srgbClr val="AAEC40"/>
    <a:srgbClr val="C9F386"/>
    <a:srgbClr val="137BF1"/>
    <a:srgbClr val="B188F3"/>
    <a:srgbClr val="F08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D83B7-C82A-8FCF-6ECE-29238D70D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62FE59-F826-66CA-02E0-90657FD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E65BC-B888-2345-D245-69D5E699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BB7A36-061F-3B90-9797-FAB0EA3B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6D8E15-8E25-FDB2-E702-83F22674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26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60101-383F-B808-952F-EDD60AB1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FFC911-9086-E1AD-3DCA-92BDB4B18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73897A-3F72-C592-6198-2FF7249E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E99578-B31F-5389-786C-60AB5F55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5C089-6EEE-5D77-A01F-B7CBB732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63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1272F-1E65-3B8B-7B06-2C418D0E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398D6C-226C-0BEB-7D86-FF502F01E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5B5726-7145-CDC3-68BB-E3371DA6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2390C4-8193-19D2-14DD-285349FC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3AB8F3-BDE5-3300-FC0C-9C8EDA47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72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76816-EBA5-E827-F17B-494E0E75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2F4D88-5B94-864F-BA43-44B96503E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867460-A366-CECA-25E7-82FEB77AB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EF19F8-6DBB-F1E4-FF40-BCBB2717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D9435E-BD3E-2D6C-6998-EBB25020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3BD0E5-D704-2021-13BF-2903B7D4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26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2B252-CB15-0366-A778-96411FC8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A22356-4612-9C15-D39A-E6A0F1FFF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224265-6A9E-3358-66DB-C72F61B1E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0803F7-4430-3437-407F-649049490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B63E70-7798-69B6-8AE5-5AC426966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963A023-2BDB-CFCC-A3AC-D57D8B6C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14B5E6-D810-EA4A-2267-64E0E523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D744C9-0305-5CC3-4C8C-0161E552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2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8451F-6BB0-38F8-8503-AA36848D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260307-8FC6-FA22-4973-FD9BFEAF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C1A752-E946-B1EF-9577-7737C28A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EA3ACB-E06B-400B-7E3A-C3A448ED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83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80348B-18D1-ACCE-F680-C35446DA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74138-6C4F-026F-72B7-775A6DFB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AEADC9-BFDA-B418-699E-C540390D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21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B0D6B-CFC1-3E36-1A90-60D98121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D92A4-33BE-A56F-3A19-F62F0E5C3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75AFD5-5C0F-4615-E6A1-C28DA874E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C07BBC-DCC9-D79C-C708-7C69AB1B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5E1A83-DBA7-72F2-FDC2-55783765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533FCA-C7CC-42B3-6154-9703E71B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02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6A213-80A2-A436-70AF-1717629E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1A3FC8-3A76-C6AE-2F50-666815253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7A7EFD-D5C9-572D-3E78-403FA065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817EE3-F75F-F213-B307-87BE6228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8EBCBB-8385-FB59-0EE7-7FD08D7E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DC966E-51F3-66D3-E482-DD892197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8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17545-3F65-BB13-C9A4-315A59A2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11870B-3DCE-263F-541A-4073A54C7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AE124-36A9-5562-6B4B-F5D05A2A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E72B4A-EC15-BB1F-4F83-E38A7EB5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34EDDA-E128-9EF4-541E-B4F6A5F7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98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96807D-8164-D5D9-B7EC-2E21EE808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D7DBBF-9429-4F81-D5E1-847A03F5E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EC636-D71A-2DC0-90B2-43273951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C651B-E265-BB24-AADF-E9416A22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8970C-9392-7B43-F737-B0909C9E7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3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4685DA-7CC9-E449-F965-E2032E477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CE19B5-6B3E-C260-4EDD-777016425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8A100-1349-867F-754D-88654EB29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6BC39-1F65-43DD-995E-A535DC91E0CD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04C77F-471C-5513-712F-5EFA753CA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257503-F750-F8F6-F630-F1A37FF9F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3DDDF-52F0-4522-938E-3D3F7EB779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14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210C-0DF2-D0DB-5A5D-48C21F26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120AB5-3033-3591-3F5F-E225EAA6213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2F287C-525E-ADAA-7F7E-6FAD47A1A396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00BB659-8118-475E-374D-D40E02ADF74A}"/>
              </a:ext>
            </a:extLst>
          </p:cNvPr>
          <p:cNvSpPr txBox="1"/>
          <p:nvPr/>
        </p:nvSpPr>
        <p:spPr>
          <a:xfrm>
            <a:off x="289810" y="206793"/>
            <a:ext cx="5516379" cy="769441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C9F386"/>
                </a:solidFill>
              </a:rPr>
              <a:t>FEVEREIRO ROXO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B3CB66-FA23-EBF7-9C7B-4D2C7820C45F}"/>
              </a:ext>
            </a:extLst>
          </p:cNvPr>
          <p:cNvSpPr txBox="1"/>
          <p:nvPr/>
        </p:nvSpPr>
        <p:spPr>
          <a:xfrm>
            <a:off x="6395804" y="206792"/>
            <a:ext cx="5506386" cy="769441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137BF1"/>
                </a:solidFill>
              </a:rPr>
              <a:t>FEVEREIRO LARANJA</a:t>
            </a:r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F51E54C8-A620-6981-5E04-0FA88B3D8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7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832C-8F82-1B27-F338-379E357C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CB68093-F4B5-B748-BEF0-0EB933A50B5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7BBE03A-CBC8-BB3E-8F82-1C89C5C6BE5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#137bf1</a:t>
            </a:r>
          </a:p>
        </p:txBody>
      </p:sp>
      <p:pic>
        <p:nvPicPr>
          <p:cNvPr id="5" name="Imagem 4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F8998CB0-749C-3B5D-A91E-F465AC7BE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17" b="22623"/>
          <a:stretch>
            <a:fillRect/>
          </a:stretch>
        </p:blipFill>
        <p:spPr>
          <a:xfrm>
            <a:off x="2667000" y="1952469"/>
            <a:ext cx="6858000" cy="295306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9762C76-2D38-9140-67A6-D9A2DC49DFA0}"/>
              </a:ext>
            </a:extLst>
          </p:cNvPr>
          <p:cNvSpPr txBox="1"/>
          <p:nvPr/>
        </p:nvSpPr>
        <p:spPr>
          <a:xfrm>
            <a:off x="289810" y="206793"/>
            <a:ext cx="5516379" cy="2123658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gradFill>
                  <a:gsLst>
                    <a:gs pos="0">
                      <a:schemeClr val="bg1"/>
                    </a:gs>
                    <a:gs pos="63000">
                      <a:srgbClr val="C9F386"/>
                    </a:gs>
                    <a:gs pos="39000">
                      <a:schemeClr val="bg1"/>
                    </a:gs>
                    <a:gs pos="100000">
                      <a:srgbClr val="C9F386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Conscientização sobre doenças crônicas sem cura</a:t>
            </a:r>
            <a:endParaRPr lang="pt-BR" sz="4400" b="1" dirty="0">
              <a:gradFill>
                <a:gsLst>
                  <a:gs pos="0">
                    <a:schemeClr val="bg1"/>
                  </a:gs>
                  <a:gs pos="63000">
                    <a:srgbClr val="C9F386"/>
                  </a:gs>
                  <a:gs pos="39000">
                    <a:schemeClr val="bg1"/>
                  </a:gs>
                  <a:gs pos="100000">
                    <a:srgbClr val="C9F386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EC0AED-BE95-F335-FDB1-60BD5CAE5E9E}"/>
              </a:ext>
            </a:extLst>
          </p:cNvPr>
          <p:cNvSpPr txBox="1"/>
          <p:nvPr/>
        </p:nvSpPr>
        <p:spPr>
          <a:xfrm>
            <a:off x="6395804" y="206792"/>
            <a:ext cx="5506386" cy="144655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gradFill>
                  <a:gsLst>
                    <a:gs pos="0">
                      <a:schemeClr val="tx1"/>
                    </a:gs>
                    <a:gs pos="31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Campanha de combate à </a:t>
            </a:r>
            <a:r>
              <a:rPr lang="pt-BR" sz="4400" b="1" dirty="0">
                <a:gradFill>
                  <a:gsLst>
                    <a:gs pos="0">
                      <a:schemeClr val="tx1"/>
                    </a:gs>
                    <a:gs pos="31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leucemia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809759-0E68-358D-30BD-DC89E4918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96" y="4905531"/>
            <a:ext cx="4147904" cy="1477328"/>
          </a:xfrm>
          <a:prstGeom prst="rect">
            <a:avLst/>
          </a:prstGeom>
          <a:solidFill>
            <a:schemeClr val="bg1"/>
          </a:solidFill>
          <a:ln w="9525">
            <a:solidFill>
              <a:srgbClr val="F08B15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Alzheimer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afeta memória e cognição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Lúpus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inflamação em órgãos e tecidos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Fibromialgia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dor crônica e fadiga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872BB5A-97BC-F312-8553-96032770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941" y="5116648"/>
            <a:ext cx="5698463" cy="923330"/>
          </a:xfrm>
          <a:prstGeom prst="rect">
            <a:avLst/>
          </a:prstGeom>
          <a:solidFill>
            <a:schemeClr val="bg1"/>
          </a:solidFill>
          <a:ln w="9525">
            <a:solidFill>
              <a:srgbClr val="B188F3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b="1" dirty="0">
                <a:latin typeface="Arial" panose="020B0604020202020204" pitchFamily="34" charset="0"/>
              </a:rPr>
              <a:t>Câncer que afeta células sanguíneas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b="1" dirty="0">
                <a:latin typeface="Arial" panose="020B0604020202020204" pitchFamily="34" charset="0"/>
              </a:rPr>
              <a:t>Tratamento depende da doação de medula óssea</a:t>
            </a:r>
          </a:p>
        </p:txBody>
      </p:sp>
    </p:spTree>
    <p:extLst>
      <p:ext uri="{BB962C8B-B14F-4D97-AF65-F5344CB8AC3E}">
        <p14:creationId xmlns:p14="http://schemas.microsoft.com/office/powerpoint/2010/main" val="3563227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09AF-EBEC-117F-A1CD-44FBA55C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306AF02-F714-145F-3E05-02FD86C2F31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FFEFA5-3C2C-13F9-50EA-9A6C2C3BB12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#137bf1</a:t>
            </a:r>
          </a:p>
        </p:txBody>
      </p:sp>
      <p:pic>
        <p:nvPicPr>
          <p:cNvPr id="5" name="Imagem 4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8F5CC117-2DEB-A39F-3542-9EC112E33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17" b="22623"/>
          <a:stretch>
            <a:fillRect/>
          </a:stretch>
        </p:blipFill>
        <p:spPr>
          <a:xfrm>
            <a:off x="2667000" y="1952469"/>
            <a:ext cx="6858000" cy="295306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3F3E3B3-2E26-46C5-98B1-B67A314DB523}"/>
              </a:ext>
            </a:extLst>
          </p:cNvPr>
          <p:cNvSpPr txBox="1"/>
          <p:nvPr/>
        </p:nvSpPr>
        <p:spPr>
          <a:xfrm>
            <a:off x="289810" y="206793"/>
            <a:ext cx="5516379" cy="144655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400">
                <a:gradFill>
                  <a:gsLst>
                    <a:gs pos="0">
                      <a:schemeClr val="bg1"/>
                    </a:gs>
                    <a:gs pos="63000">
                      <a:srgbClr val="C9F386"/>
                    </a:gs>
                    <a:gs pos="39000">
                      <a:schemeClr val="bg1"/>
                    </a:gs>
                    <a:gs pos="100000">
                      <a:srgbClr val="C9F386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Objetivos do Fevereiro Roxo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80EFB4-EB78-8CC7-82D7-E370EC473AD5}"/>
              </a:ext>
            </a:extLst>
          </p:cNvPr>
          <p:cNvSpPr txBox="1"/>
          <p:nvPr/>
        </p:nvSpPr>
        <p:spPr>
          <a:xfrm>
            <a:off x="6395804" y="206792"/>
            <a:ext cx="5506386" cy="144655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400">
                <a:gradFill>
                  <a:gsLst>
                    <a:gs pos="0">
                      <a:schemeClr val="tx1"/>
                    </a:gs>
                    <a:gs pos="31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Objetivos do Fevereiro Laranja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7840C71-3270-EB92-E131-0E2774595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10" y="4958437"/>
            <a:ext cx="5301451" cy="923330"/>
          </a:xfrm>
          <a:prstGeom prst="rect">
            <a:avLst/>
          </a:prstGeom>
          <a:solidFill>
            <a:schemeClr val="bg1"/>
          </a:solidFill>
          <a:ln w="9525">
            <a:solidFill>
              <a:srgbClr val="F08B15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Promover o diagnóstico precoce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Incentivar o acompanhamento médico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Melhorar a qualidade de vida dos pacientes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CE611C-0C14-A278-66C9-BA6C27CAA830}"/>
              </a:ext>
            </a:extLst>
          </p:cNvPr>
          <p:cNvSpPr txBox="1"/>
          <p:nvPr/>
        </p:nvSpPr>
        <p:spPr>
          <a:xfrm>
            <a:off x="6385810" y="4958437"/>
            <a:ext cx="5516380" cy="923330"/>
          </a:xfrm>
          <a:prstGeom prst="rect">
            <a:avLst/>
          </a:prstGeom>
          <a:solidFill>
            <a:schemeClr val="bg1"/>
          </a:solidFill>
          <a:ln w="9525">
            <a:solidFill>
              <a:srgbClr val="B188F3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b="1">
                <a:latin typeface="Arial" panose="020B0604020202020204" pitchFamily="34" charset="0"/>
              </a:defRPr>
            </a:lvl1pPr>
          </a:lstStyle>
          <a:p>
            <a:r>
              <a:rPr lang="pt-BR" dirty="0"/>
              <a:t>Informar sobre os sintomas da leucemia</a:t>
            </a:r>
          </a:p>
          <a:p>
            <a:r>
              <a:rPr lang="pt-BR" dirty="0"/>
              <a:t>Estimular a doação de medula óssea</a:t>
            </a:r>
          </a:p>
          <a:p>
            <a:r>
              <a:rPr lang="pt-BR" dirty="0"/>
              <a:t>Apoiar pacientes e familiares</a:t>
            </a:r>
          </a:p>
        </p:txBody>
      </p:sp>
    </p:spTree>
    <p:extLst>
      <p:ext uri="{BB962C8B-B14F-4D97-AF65-F5344CB8AC3E}">
        <p14:creationId xmlns:p14="http://schemas.microsoft.com/office/powerpoint/2010/main" val="200213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2142-AD38-5C1C-54D8-67ED5D6C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6FD1788-DE25-6AC8-89E8-98505A30A31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22DF929-E178-790A-FCF8-05153059DE0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6AAC7908-8D9B-D3C6-1A63-39EECCB80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407717-55C3-43D1-605E-C3CCDD99DA1E}"/>
              </a:ext>
            </a:extLst>
          </p:cNvPr>
          <p:cNvSpPr txBox="1"/>
          <p:nvPr/>
        </p:nvSpPr>
        <p:spPr>
          <a:xfrm>
            <a:off x="344774" y="282342"/>
            <a:ext cx="11422505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Como Participar?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D5E08B-73CB-A5CD-8A34-A81741E41D98}"/>
              </a:ext>
            </a:extLst>
          </p:cNvPr>
          <p:cNvSpPr txBox="1"/>
          <p:nvPr/>
        </p:nvSpPr>
        <p:spPr>
          <a:xfrm>
            <a:off x="7550046" y="1778409"/>
            <a:ext cx="42172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Vista roxo e laranja durante o mês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A55648-4947-5F38-2F3D-BB869DD760A4}"/>
              </a:ext>
            </a:extLst>
          </p:cNvPr>
          <p:cNvSpPr txBox="1"/>
          <p:nvPr/>
        </p:nvSpPr>
        <p:spPr>
          <a:xfrm>
            <a:off x="344774" y="3045713"/>
            <a:ext cx="4845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Compartilhe informações nas redes sociais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1DF106-F209-411A-8089-F522DAD4E3B5}"/>
              </a:ext>
            </a:extLst>
          </p:cNvPr>
          <p:cNvSpPr txBox="1"/>
          <p:nvPr/>
        </p:nvSpPr>
        <p:spPr>
          <a:xfrm>
            <a:off x="7457606" y="4739045"/>
            <a:ext cx="4309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Participe de rodas de conversa e eventos educativos</a:t>
            </a:r>
          </a:p>
        </p:txBody>
      </p:sp>
    </p:spTree>
    <p:extLst>
      <p:ext uri="{BB962C8B-B14F-4D97-AF65-F5344CB8AC3E}">
        <p14:creationId xmlns:p14="http://schemas.microsoft.com/office/powerpoint/2010/main" val="323062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9883-2CC7-F65F-FD42-E7E4C706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28AF5FF-7A9D-3D5F-C757-ABFC7293EC4A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7E16D8-9E31-022F-1CE3-1859F20BBBB1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BA688DB4-9493-ACDB-ECD5-634D8F2C0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1F8EEF-E3BF-EED3-3A7A-8D80C70AF6FF}"/>
              </a:ext>
            </a:extLst>
          </p:cNvPr>
          <p:cNvSpPr txBox="1"/>
          <p:nvPr/>
        </p:nvSpPr>
        <p:spPr>
          <a:xfrm>
            <a:off x="344774" y="282342"/>
            <a:ext cx="11422505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Quebrando de Preconceitos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FBA7BD-9989-DB06-E57B-8B4E783D8A59}"/>
              </a:ext>
            </a:extLst>
          </p:cNvPr>
          <p:cNvSpPr txBox="1"/>
          <p:nvPr/>
        </p:nvSpPr>
        <p:spPr>
          <a:xfrm>
            <a:off x="7550046" y="1778409"/>
            <a:ext cx="42172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Doenças crônicas não são invisíveis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4C6801-8314-6271-4F9C-4C5C0AFDC368}"/>
              </a:ext>
            </a:extLst>
          </p:cNvPr>
          <p:cNvSpPr txBox="1"/>
          <p:nvPr/>
        </p:nvSpPr>
        <p:spPr>
          <a:xfrm>
            <a:off x="344774" y="3045713"/>
            <a:ext cx="4845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Leucemia não é sentença de morte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C1D97D-F010-1902-138C-6A55D34A8B68}"/>
              </a:ext>
            </a:extLst>
          </p:cNvPr>
          <p:cNvSpPr txBox="1"/>
          <p:nvPr/>
        </p:nvSpPr>
        <p:spPr>
          <a:xfrm>
            <a:off x="7457606" y="4739045"/>
            <a:ext cx="4309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Informação salva vidas e promove empatia</a:t>
            </a:r>
          </a:p>
        </p:txBody>
      </p:sp>
    </p:spTree>
    <p:extLst>
      <p:ext uri="{BB962C8B-B14F-4D97-AF65-F5344CB8AC3E}">
        <p14:creationId xmlns:p14="http://schemas.microsoft.com/office/powerpoint/2010/main" val="1324369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E62C-F791-B4D7-5515-28DDFC94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D4AEA7D-9E05-888A-D07D-CA04AFEB4ED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7570F0-19C4-71AA-CFB2-864C11287C6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FAF22576-F205-377E-A3C7-6CC5F55D6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C9B5628-0138-1FCF-CCA6-3C96890C1233}"/>
              </a:ext>
            </a:extLst>
          </p:cNvPr>
          <p:cNvSpPr txBox="1"/>
          <p:nvPr/>
        </p:nvSpPr>
        <p:spPr>
          <a:xfrm>
            <a:off x="344774" y="282342"/>
            <a:ext cx="11422505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Apoio Institucional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CB68D5-1483-FED8-C9BE-2EDDEC5B9DF0}"/>
              </a:ext>
            </a:extLst>
          </p:cNvPr>
          <p:cNvSpPr txBox="1"/>
          <p:nvPr/>
        </p:nvSpPr>
        <p:spPr>
          <a:xfrm>
            <a:off x="7550046" y="1778409"/>
            <a:ext cx="42172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Incentive empresas e escolas a aderirem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543DCF3-D41F-6E04-61B5-9522DB483AE6}"/>
              </a:ext>
            </a:extLst>
          </p:cNvPr>
          <p:cNvSpPr txBox="1"/>
          <p:nvPr/>
        </p:nvSpPr>
        <p:spPr>
          <a:xfrm>
            <a:off x="344774" y="3045713"/>
            <a:ext cx="4845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Distribua materiais informativos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26E3D2-507F-70ED-2715-C9B315E9DF3E}"/>
              </a:ext>
            </a:extLst>
          </p:cNvPr>
          <p:cNvSpPr txBox="1"/>
          <p:nvPr/>
        </p:nvSpPr>
        <p:spPr>
          <a:xfrm>
            <a:off x="7457606" y="4739045"/>
            <a:ext cx="4309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Crie espaços de escuta e acolhimento</a:t>
            </a:r>
          </a:p>
        </p:txBody>
      </p:sp>
    </p:spTree>
    <p:extLst>
      <p:ext uri="{BB962C8B-B14F-4D97-AF65-F5344CB8AC3E}">
        <p14:creationId xmlns:p14="http://schemas.microsoft.com/office/powerpoint/2010/main" val="350019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955E8-F85F-51E6-5C11-EE03EACD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BFE5899-EF4D-578D-F7B9-E5A53CB3DDD9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DE343CD-03C4-1F61-BB92-75EE7E71D0EF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29AC4119-0A69-0087-F0DF-CCE32D56B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652F072-242E-4150-609F-FBA8C3DC972D}"/>
              </a:ext>
            </a:extLst>
          </p:cNvPr>
          <p:cNvSpPr txBox="1"/>
          <p:nvPr/>
        </p:nvSpPr>
        <p:spPr>
          <a:xfrm>
            <a:off x="344774" y="282342"/>
            <a:ext cx="11422505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Chamada à 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88A1E3-8B08-10D3-BA4D-E7D2D6C54CEA}"/>
              </a:ext>
            </a:extLst>
          </p:cNvPr>
          <p:cNvSpPr txBox="1"/>
          <p:nvPr/>
        </p:nvSpPr>
        <p:spPr>
          <a:xfrm>
            <a:off x="7550046" y="1778409"/>
            <a:ext cx="42172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Junte-se à campanha!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17FA11-9281-B9C8-7A44-89A255AEBB64}"/>
              </a:ext>
            </a:extLst>
          </p:cNvPr>
          <p:cNvSpPr txBox="1"/>
          <p:nvPr/>
        </p:nvSpPr>
        <p:spPr>
          <a:xfrm>
            <a:off x="344774" y="3045713"/>
            <a:ext cx="4845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Fevereiro é tempo de cuidar, informar e transformar.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3BBA417-617B-4606-EBFB-ECE657F12B8A}"/>
              </a:ext>
            </a:extLst>
          </p:cNvPr>
          <p:cNvSpPr txBox="1"/>
          <p:nvPr/>
        </p:nvSpPr>
        <p:spPr>
          <a:xfrm>
            <a:off x="7457606" y="4739045"/>
            <a:ext cx="4309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r>
              <a:rPr lang="pt-BR" dirty="0"/>
              <a:t>Vista as cores da empatia e da solidariedade.</a:t>
            </a:r>
          </a:p>
        </p:txBody>
      </p:sp>
    </p:spTree>
    <p:extLst>
      <p:ext uri="{BB962C8B-B14F-4D97-AF65-F5344CB8AC3E}">
        <p14:creationId xmlns:p14="http://schemas.microsoft.com/office/powerpoint/2010/main" val="1649835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F0BC8-DB90-BE86-E0B8-D9CDB07D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003C421-81DA-9CA4-CEF0-73A9CD0DF0F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18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930CB5-F286-778C-EF06-F7361C93AEB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08B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20676278-A791-994F-85BF-0232E05A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20717" r="28895" b="17368"/>
          <a:stretch>
            <a:fillRect/>
          </a:stretch>
        </p:blipFill>
        <p:spPr>
          <a:xfrm>
            <a:off x="4641954" y="1334125"/>
            <a:ext cx="2908092" cy="415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12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175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Jônatan Viana</dc:creator>
  <cp:lastModifiedBy>Jônatan Viana</cp:lastModifiedBy>
  <cp:revision>1</cp:revision>
  <dcterms:created xsi:type="dcterms:W3CDTF">2026-02-19T16:11:18Z</dcterms:created>
  <dcterms:modified xsi:type="dcterms:W3CDTF">2026-02-19T17:01:43Z</dcterms:modified>
</cp:coreProperties>
</file>