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997D2"/>
    <a:srgbClr val="5BB3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91C667-95E4-F0D1-AB43-020DAA4711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2B71D4D-8945-E2A9-3D4D-77D96CB8CE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16B5448-5577-77BE-35B1-5804084F0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FF146-9455-47BF-830E-DD058C055359}" type="datetimeFigureOut">
              <a:rPr lang="pt-BR" smtClean="0"/>
              <a:t>21/02/2026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5031082-383D-E560-4B31-8FAE4B47F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2A1D8FC-FC7B-6D52-8AC1-C5C2E5974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E2444-6DA3-4F4C-9EA5-6F32C4E611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31482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AD3772-539F-3885-5CBE-0F4CD009E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7527215-028F-D778-CB41-AECFA697C8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A8DE1B4-1D96-B70C-DD22-C8133CDE3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FF146-9455-47BF-830E-DD058C055359}" type="datetimeFigureOut">
              <a:rPr lang="pt-BR" smtClean="0"/>
              <a:t>21/02/2026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AED88F6-FA2C-2435-B507-7D01547B0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009B708-E211-ACFC-E53D-0E70285DB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E2444-6DA3-4F4C-9EA5-6F32C4E611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135799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31361A-BEE1-D422-9DF0-A027FA5B7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989BC1A-A315-BF43-5353-A295B5DCBB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D40A8F6-38E0-3BC8-9BBC-A8DFE4726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FF146-9455-47BF-830E-DD058C055359}" type="datetimeFigureOut">
              <a:rPr lang="pt-BR" smtClean="0"/>
              <a:t>21/02/2026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9BB632F-6909-BA5F-408D-036FE690C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EF1F6B3-BAFE-7B7B-B2B4-369995E7A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E2444-6DA3-4F4C-9EA5-6F32C4E611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792633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8C4C2E-AAF7-B9C1-541C-4DC989219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C253668-4207-2805-F318-E68CFD5FAE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A33A1F0-7F89-C229-FCB9-C7B2040EF9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F3D0B18-AE7B-046B-BF27-8F9584CA4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FF146-9455-47BF-830E-DD058C055359}" type="datetimeFigureOut">
              <a:rPr lang="pt-BR" smtClean="0"/>
              <a:t>21/02/2026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A200034-B569-1039-F44C-344212004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85FA11F-1CD0-37A1-6182-F86C3105D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E2444-6DA3-4F4C-9EA5-6F32C4E611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520571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F92D1B-664E-2468-5148-9B2B41A18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F61FA0D-8EC9-627A-43B9-5FC579B7B9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0558205-4393-624A-D55A-49C820495E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2A8785B-9371-D3D2-7355-ACDC2EAEE6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B0727B1-C7F7-16B4-A6FD-EBB17A457B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DC8E968-78C4-9DEB-E733-9DB0D26C4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FF146-9455-47BF-830E-DD058C055359}" type="datetimeFigureOut">
              <a:rPr lang="pt-BR" smtClean="0"/>
              <a:t>21/02/2026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DF3F6F06-14AC-B28C-30EC-216D57EF6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04FD84B0-474C-EA2B-5729-BCB5A8ED6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E2444-6DA3-4F4C-9EA5-6F32C4E611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6672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DCDBCB-4433-5E38-4DC4-2548D1F7D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660B7D4-4FF6-5FCB-67DC-983BF24DC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FF146-9455-47BF-830E-DD058C055359}" type="datetimeFigureOut">
              <a:rPr lang="pt-BR" smtClean="0"/>
              <a:t>21/02/2026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1145964-4BB9-25CC-36BD-1E3676278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E53F255-08C9-D6A4-2FCC-6FA6EA591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E2444-6DA3-4F4C-9EA5-6F32C4E611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68254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0C7FEF39-83D3-3C4F-9D7A-5C3D05B41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FF146-9455-47BF-830E-DD058C055359}" type="datetimeFigureOut">
              <a:rPr lang="pt-BR" smtClean="0"/>
              <a:t>21/02/2026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6940F6A-B2F4-12A5-D576-4D00A44AE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DB3CF9B-C031-EAE5-8EE2-B306829F2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E2444-6DA3-4F4C-9EA5-6F32C4E611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3420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1EE68C-C847-EDE6-DC3D-E0DA65522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DDA8590-7CC6-7392-3BF5-3425CB46EE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A825C16-89B4-416E-C41A-AF3772EC88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1D9934C-F607-D413-9EAC-3B0F7600E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FF146-9455-47BF-830E-DD058C055359}" type="datetimeFigureOut">
              <a:rPr lang="pt-BR" smtClean="0"/>
              <a:t>21/02/2026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5076F89-CFB2-4523-4129-0432B3B5B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0F79FDF-587E-06C6-6FE9-273A2B6B0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E2444-6DA3-4F4C-9EA5-6F32C4E611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26058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2C9B76-E3D7-C113-11BD-D4B5AA0D7F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F2DECCFF-BC51-62E7-1848-A77AE52633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433478C-CB23-FAB7-A22F-7036C1EF61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F5F745F-740E-030C-43C0-6D809D156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FF146-9455-47BF-830E-DD058C055359}" type="datetimeFigureOut">
              <a:rPr lang="pt-BR" smtClean="0"/>
              <a:t>21/02/2026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7AB85B2-986C-868F-440F-928893737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4364827-6063-4BAE-CC4A-1E81004D3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E2444-6DA3-4F4C-9EA5-6F32C4E611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90461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B46361-C2E1-CC92-09D7-081A4A945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512597F-BC92-F74E-63F7-40D084EB60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5B94305-47B3-7A42-9510-41561C2F0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FF146-9455-47BF-830E-DD058C055359}" type="datetimeFigureOut">
              <a:rPr lang="pt-BR" smtClean="0"/>
              <a:t>21/02/2026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5D59927-8C73-3375-2318-74DA06D65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1C08A54-2B05-AE5B-6D46-E3489B328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E2444-6DA3-4F4C-9EA5-6F32C4E611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20802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BDCEA3D-B1D5-1455-75F8-142208EB51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74D32C0-97A6-4DC4-53E3-A2828670B4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CF1ED0-02F7-8196-4054-524D946A1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FF146-9455-47BF-830E-DD058C055359}" type="datetimeFigureOut">
              <a:rPr lang="pt-BR" smtClean="0"/>
              <a:t>21/02/2026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D5AA949-71B9-6256-13AB-387FEB789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E8AC7D9-00CB-1F5B-76B5-4CEEAE720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E2444-6DA3-4F4C-9EA5-6F32C4E611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449332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A26302B5-22DE-84C2-6C0C-0EB2183D2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0278022-480C-66B5-8A27-166F595AB8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2B7E71B-7281-5992-19FD-68C4F3BF40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6FF146-9455-47BF-830E-DD058C055359}" type="datetimeFigureOut">
              <a:rPr lang="pt-BR" smtClean="0"/>
              <a:t>21/02/2026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3C926E3-CB28-4106-7CCF-7E242CDF26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F061687-48E1-0537-352E-2138C2FDC4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0E2444-6DA3-4F4C-9EA5-6F32C4E611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40589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Uma imagem contendo esporte, homem, água, colorido&#10;&#10;O conteúdo gerado por IA pode estar incorreto.">
            <a:extLst>
              <a:ext uri="{FF2B5EF4-FFF2-40B4-BE49-F238E27FC236}">
                <a16:creationId xmlns:a16="http://schemas.microsoft.com/office/drawing/2014/main" id="{9806DAAC-8473-9FA4-FC21-FD124F192E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0E710482-C2C3-7988-07DA-709D1D063710}"/>
              </a:ext>
            </a:extLst>
          </p:cNvPr>
          <p:cNvSpPr/>
          <p:nvPr/>
        </p:nvSpPr>
        <p:spPr>
          <a:xfrm>
            <a:off x="983062" y="403796"/>
            <a:ext cx="10225877" cy="1569660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9600" u="sng" dirty="0">
                <a:ln w="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CONCIENTIZAÇÃO</a:t>
            </a:r>
            <a:endParaRPr lang="pt-BR" sz="9600" b="0" u="sng" cap="none" spc="0" dirty="0">
              <a:ln w="0"/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92868CD3-C525-0AE5-045C-B71D8F64E143}"/>
              </a:ext>
            </a:extLst>
          </p:cNvPr>
          <p:cNvSpPr/>
          <p:nvPr/>
        </p:nvSpPr>
        <p:spPr>
          <a:xfrm>
            <a:off x="2876452" y="2377252"/>
            <a:ext cx="6439097" cy="304698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48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AUTISMO, DOENÇAS</a:t>
            </a:r>
            <a:br>
              <a:rPr lang="pt-BR" sz="48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lang="pt-BR" sz="48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</a:t>
            </a:r>
            <a:br>
              <a:rPr lang="pt-BR" sz="48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lang="pt-BR" sz="48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ASSIDENTES DE TRABALHO</a:t>
            </a:r>
            <a:endParaRPr lang="pt-BR" sz="48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1982502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  <p:sndAc>
          <p:stSnd>
            <p:snd r:embed="rId2" name="type.wav"/>
          </p:stSnd>
        </p:sndAc>
      </p:transition>
    </mc:Choice>
    <mc:Fallback>
      <p:transition spd="slow">
        <p:fade/>
        <p:sndAc>
          <p:stSnd>
            <p:snd r:embed="rId2" name="type.wav"/>
          </p:stSnd>
        </p:sndAc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CEDB16-8FE8-CD02-ED8A-F121C45D9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Agrupar 39">
            <a:extLst>
              <a:ext uri="{FF2B5EF4-FFF2-40B4-BE49-F238E27FC236}">
                <a16:creationId xmlns:a16="http://schemas.microsoft.com/office/drawing/2014/main" id="{BE1FDC7A-FDCC-7C75-AC5E-6F05CC747A84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grpSp>
          <p:nvGrpSpPr>
            <p:cNvPr id="16" name="Agrupar 15">
              <a:extLst>
                <a:ext uri="{FF2B5EF4-FFF2-40B4-BE49-F238E27FC236}">
                  <a16:creationId xmlns:a16="http://schemas.microsoft.com/office/drawing/2014/main" id="{B9F29D3E-B246-B8C9-FDE6-790532541D34}"/>
                </a:ext>
              </a:extLst>
            </p:cNvPr>
            <p:cNvGrpSpPr/>
            <p:nvPr/>
          </p:nvGrpSpPr>
          <p:grpSpPr>
            <a:xfrm>
              <a:off x="0" y="0"/>
              <a:ext cx="12192000" cy="6858000"/>
              <a:chOff x="0" y="0"/>
              <a:chExt cx="12192000" cy="6858000"/>
            </a:xfrm>
          </p:grpSpPr>
          <p:pic>
            <p:nvPicPr>
              <p:cNvPr id="5" name="Imagem 4" descr="Uma imagem contendo esporte, homem, água, colorido&#10;&#10;O conteúdo gerado por IA pode estar incorreto.">
                <a:extLst>
                  <a:ext uri="{FF2B5EF4-FFF2-40B4-BE49-F238E27FC236}">
                    <a16:creationId xmlns:a16="http://schemas.microsoft.com/office/drawing/2014/main" id="{2F430058-F58D-B0C5-C084-D4D896402A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  <p:sp>
            <p:nvSpPr>
              <p:cNvPr id="2" name="Retângulo 1">
                <a:extLst>
                  <a:ext uri="{FF2B5EF4-FFF2-40B4-BE49-F238E27FC236}">
                    <a16:creationId xmlns:a16="http://schemas.microsoft.com/office/drawing/2014/main" id="{08D70F9F-5191-53D2-F472-FFD9A7BCBFB5}"/>
                  </a:ext>
                </a:extLst>
              </p:cNvPr>
              <p:cNvSpPr/>
              <p:nvPr/>
            </p:nvSpPr>
            <p:spPr>
              <a:xfrm>
                <a:off x="4492035" y="379118"/>
                <a:ext cx="3207930" cy="144655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90500" dist="228600" dir="2700000" algn="ctr">
                  <a:srgbClr val="000000">
                    <a:alpha val="30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glow" dir="t">
                  <a:rot lat="0" lon="0" rev="4800000"/>
                </a:lightRig>
              </a:scene3d>
              <a:sp3d prstMaterial="matte">
                <a:bevelT w="127000" h="63500"/>
              </a:sp3d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pt-BR" sz="8800" b="1" dirty="0">
                    <a:ln w="0"/>
                    <a:solidFill>
                      <a:srgbClr val="5997D2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ABRIL</a:t>
                </a:r>
                <a:endParaRPr lang="pt-BR" sz="8800" b="1" cap="none" spc="0" dirty="0">
                  <a:ln w="0"/>
                  <a:solidFill>
                    <a:srgbClr val="5997D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pic>
            <p:nvPicPr>
              <p:cNvPr id="9" name="Imagem 8" descr="Imagem digital fictícia de personagem de desenho animado&#10;&#10;O conteúdo gerado por IA pode estar incorreto.">
                <a:extLst>
                  <a:ext uri="{FF2B5EF4-FFF2-40B4-BE49-F238E27FC236}">
                    <a16:creationId xmlns:a16="http://schemas.microsoft.com/office/drawing/2014/main" id="{5100BA3D-A53D-6B5F-8D0B-20466638817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1462" t="11612" r="23141" b="10578"/>
              <a:stretch>
                <a:fillRect/>
              </a:stretch>
            </p:blipFill>
            <p:spPr>
              <a:xfrm>
                <a:off x="4492035" y="1825668"/>
                <a:ext cx="2638269" cy="3705702"/>
              </a:xfrm>
              <a:prstGeom prst="rect">
                <a:avLst/>
              </a:prstGeom>
            </p:spPr>
          </p:pic>
          <p:pic>
            <p:nvPicPr>
              <p:cNvPr id="11" name="Imagem 10">
                <a:extLst>
                  <a:ext uri="{FF2B5EF4-FFF2-40B4-BE49-F238E27FC236}">
                    <a16:creationId xmlns:a16="http://schemas.microsoft.com/office/drawing/2014/main" id="{63BCE8C6-5970-9132-A13D-C8EE290496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alphaModFix amt="20000"/>
              </a:blip>
              <a:stretch>
                <a:fillRect/>
              </a:stretch>
            </p:blipFill>
            <p:spPr>
              <a:xfrm>
                <a:off x="6081010" y="981024"/>
                <a:ext cx="199869" cy="199869"/>
              </a:xfrm>
              <a:prstGeom prst="rect">
                <a:avLst/>
              </a:prstGeom>
            </p:spPr>
          </p:pic>
          <p:pic>
            <p:nvPicPr>
              <p:cNvPr id="12" name="Imagem 11">
                <a:extLst>
                  <a:ext uri="{FF2B5EF4-FFF2-40B4-BE49-F238E27FC236}">
                    <a16:creationId xmlns:a16="http://schemas.microsoft.com/office/drawing/2014/main" id="{CEEE2F5E-D372-39A4-A6CA-D4CBA497E3F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alphaModFix amt="20000"/>
              </a:blip>
              <a:stretch>
                <a:fillRect/>
              </a:stretch>
            </p:blipFill>
            <p:spPr>
              <a:xfrm>
                <a:off x="5376472" y="981024"/>
                <a:ext cx="199869" cy="199869"/>
              </a:xfrm>
              <a:prstGeom prst="rect">
                <a:avLst/>
              </a:prstGeom>
            </p:spPr>
          </p:pic>
          <p:pic>
            <p:nvPicPr>
              <p:cNvPr id="13" name="Imagem 12">
                <a:extLst>
                  <a:ext uri="{FF2B5EF4-FFF2-40B4-BE49-F238E27FC236}">
                    <a16:creationId xmlns:a16="http://schemas.microsoft.com/office/drawing/2014/main" id="{56586351-958F-2D79-6069-946D5C160B8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alphaModFix amt="20000"/>
              </a:blip>
              <a:stretch>
                <a:fillRect/>
              </a:stretch>
            </p:blipFill>
            <p:spPr>
              <a:xfrm>
                <a:off x="6770558" y="981024"/>
                <a:ext cx="199869" cy="199869"/>
              </a:xfrm>
              <a:prstGeom prst="rect">
                <a:avLst/>
              </a:prstGeom>
            </p:spPr>
          </p:pic>
          <p:pic>
            <p:nvPicPr>
              <p:cNvPr id="14" name="Imagem 13">
                <a:extLst>
                  <a:ext uri="{FF2B5EF4-FFF2-40B4-BE49-F238E27FC236}">
                    <a16:creationId xmlns:a16="http://schemas.microsoft.com/office/drawing/2014/main" id="{3E6374D1-A2C6-D9EB-5A95-0371CDF6679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alphaModFix amt="20000"/>
              </a:blip>
              <a:stretch>
                <a:fillRect/>
              </a:stretch>
            </p:blipFill>
            <p:spPr>
              <a:xfrm>
                <a:off x="7130304" y="981024"/>
                <a:ext cx="199869" cy="199869"/>
              </a:xfrm>
              <a:prstGeom prst="rect">
                <a:avLst/>
              </a:prstGeom>
            </p:spPr>
          </p:pic>
          <p:pic>
            <p:nvPicPr>
              <p:cNvPr id="15" name="Imagem 14">
                <a:extLst>
                  <a:ext uri="{FF2B5EF4-FFF2-40B4-BE49-F238E27FC236}">
                    <a16:creationId xmlns:a16="http://schemas.microsoft.com/office/drawing/2014/main" id="{87E934E3-7D85-F738-48FD-18C38DC4807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alphaModFix amt="20000"/>
              </a:blip>
              <a:stretch>
                <a:fillRect/>
              </a:stretch>
            </p:blipFill>
            <p:spPr>
              <a:xfrm>
                <a:off x="4856777" y="1114251"/>
                <a:ext cx="199869" cy="199869"/>
              </a:xfrm>
              <a:prstGeom prst="rect">
                <a:avLst/>
              </a:prstGeom>
            </p:spPr>
          </p:pic>
        </p:grpSp>
        <p:sp>
          <p:nvSpPr>
            <p:cNvPr id="21" name="Retângulo 20">
              <a:extLst>
                <a:ext uri="{FF2B5EF4-FFF2-40B4-BE49-F238E27FC236}">
                  <a16:creationId xmlns:a16="http://schemas.microsoft.com/office/drawing/2014/main" id="{0A76FD77-CFA7-7987-E0B0-42BD49EE8DD0}"/>
                </a:ext>
              </a:extLst>
            </p:cNvPr>
            <p:cNvSpPr/>
            <p:nvPr/>
          </p:nvSpPr>
          <p:spPr>
            <a:xfrm>
              <a:off x="1515606" y="2138299"/>
              <a:ext cx="1829347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  <a:scene3d>
                <a:camera prst="orthographicFront"/>
                <a:lightRig rig="soft" dir="t">
                  <a:rot lat="0" lon="0" rev="15600000"/>
                </a:lightRig>
              </a:scene3d>
              <a:sp3d extrusionH="57150" prstMaterial="softEdge">
                <a:bevelT w="25400" h="38100"/>
              </a:sp3d>
            </a:bodyPr>
            <a:lstStyle/>
            <a:p>
              <a:pPr algn="ctr"/>
              <a:r>
                <a:rPr lang="pt-BR" sz="5400" b="1" dirty="0">
                  <a:ln/>
                  <a:solidFill>
                    <a:schemeClr val="accent4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AZUL</a:t>
              </a:r>
              <a:endParaRPr lang="pt-BR" sz="5400" b="1" cap="none" spc="0" dirty="0">
                <a:ln/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3" name="CaixaDeTexto 22">
              <a:extLst>
                <a:ext uri="{FF2B5EF4-FFF2-40B4-BE49-F238E27FC236}">
                  <a16:creationId xmlns:a16="http://schemas.microsoft.com/office/drawing/2014/main" id="{E7A4814B-1DBA-7899-8AF3-14C3F05EFB90}"/>
                </a:ext>
              </a:extLst>
            </p:cNvPr>
            <p:cNvSpPr txBox="1"/>
            <p:nvPr/>
          </p:nvSpPr>
          <p:spPr>
            <a:xfrm>
              <a:off x="269820" y="3221586"/>
              <a:ext cx="4860561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2400" b="1" dirty="0"/>
                <a:t>Conscientização sobre o Autismo</a:t>
              </a:r>
            </a:p>
          </p:txBody>
        </p:sp>
        <p:sp>
          <p:nvSpPr>
            <p:cNvPr id="26" name="CaixaDeTexto 25">
              <a:extLst>
                <a:ext uri="{FF2B5EF4-FFF2-40B4-BE49-F238E27FC236}">
                  <a16:creationId xmlns:a16="http://schemas.microsoft.com/office/drawing/2014/main" id="{17D53421-3995-6049-C709-792F907FF6E0}"/>
                </a:ext>
              </a:extLst>
            </p:cNvPr>
            <p:cNvSpPr txBox="1"/>
            <p:nvPr/>
          </p:nvSpPr>
          <p:spPr>
            <a:xfrm>
              <a:off x="4253442" y="1652733"/>
              <a:ext cx="3571424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pt-BR"/>
              </a:defPPr>
              <a:lvl1pPr>
                <a:defRPr sz="2400" b="1"/>
              </a:lvl1pPr>
            </a:lstStyle>
            <a:p>
              <a:r>
                <a:rPr lang="pt-BR" dirty="0"/>
                <a:t>Objetivos da Campanha</a:t>
              </a:r>
            </a:p>
          </p:txBody>
        </p:sp>
        <p:sp>
          <p:nvSpPr>
            <p:cNvPr id="36" name="Retângulo 35">
              <a:extLst>
                <a:ext uri="{FF2B5EF4-FFF2-40B4-BE49-F238E27FC236}">
                  <a16:creationId xmlns:a16="http://schemas.microsoft.com/office/drawing/2014/main" id="{E466D8A1-AB16-21E0-BAA6-D8D0E23BF8CD}"/>
                </a:ext>
              </a:extLst>
            </p:cNvPr>
            <p:cNvSpPr/>
            <p:nvPr/>
          </p:nvSpPr>
          <p:spPr>
            <a:xfrm>
              <a:off x="8731410" y="2173641"/>
              <a:ext cx="2334293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  <a:scene3d>
                <a:camera prst="orthographicFront"/>
                <a:lightRig rig="harsh" dir="t"/>
              </a:scene3d>
              <a:sp3d extrusionH="57150" prstMaterial="matte">
                <a:bevelT w="63500" h="12700" prst="angle"/>
                <a:contourClr>
                  <a:schemeClr val="bg1">
                    <a:lumMod val="65000"/>
                  </a:schemeClr>
                </a:contourClr>
              </a:sp3d>
            </a:bodyPr>
            <a:lstStyle/>
            <a:p>
              <a:pPr algn="ctr"/>
              <a:r>
                <a:rPr lang="pt-BR" sz="5400" b="1" cap="none" spc="0" dirty="0">
                  <a:ln/>
                  <a:solidFill>
                    <a:schemeClr val="accent3"/>
                  </a:solidFill>
                  <a:effectLst/>
                </a:rPr>
                <a:t>VERDE</a:t>
              </a:r>
            </a:p>
          </p:txBody>
        </p:sp>
        <p:sp>
          <p:nvSpPr>
            <p:cNvPr id="38" name="CaixaDeTexto 37">
              <a:extLst>
                <a:ext uri="{FF2B5EF4-FFF2-40B4-BE49-F238E27FC236}">
                  <a16:creationId xmlns:a16="http://schemas.microsoft.com/office/drawing/2014/main" id="{D0538F5E-4C75-31E1-7857-B0F9CF0DCFBD}"/>
                </a:ext>
              </a:extLst>
            </p:cNvPr>
            <p:cNvSpPr txBox="1"/>
            <p:nvPr/>
          </p:nvSpPr>
          <p:spPr>
            <a:xfrm>
              <a:off x="7270213" y="3248081"/>
              <a:ext cx="4512056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pt-BR"/>
              </a:defPPr>
              <a:lvl1pPr>
                <a:defRPr sz="2400" b="1"/>
              </a:lvl1pPr>
            </a:lstStyle>
            <a:p>
              <a:r>
                <a:rPr lang="pt-BR" dirty="0"/>
                <a:t>Segurança e Saúde no Trabalho</a:t>
              </a:r>
            </a:p>
          </p:txBody>
        </p:sp>
      </p:grpSp>
      <p:sp>
        <p:nvSpPr>
          <p:cNvPr id="24" name="Rectangle 1">
            <a:extLst>
              <a:ext uri="{FF2B5EF4-FFF2-40B4-BE49-F238E27FC236}">
                <a16:creationId xmlns:a16="http://schemas.microsoft.com/office/drawing/2014/main" id="{C311C794-4883-1132-3286-75BEA140FE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089753"/>
            <a:ext cx="5386457" cy="175432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Promover inclusão e respeito às pessoas com TEA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Combater preconceitos e desinformação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Incentivar o diagnóstico precoce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Estimular políticas de inclusão social e educacional</a:t>
            </a:r>
          </a:p>
        </p:txBody>
      </p:sp>
      <p:sp>
        <p:nvSpPr>
          <p:cNvPr id="39" name="Rectangle 2">
            <a:extLst>
              <a:ext uri="{FF2B5EF4-FFF2-40B4-BE49-F238E27FC236}">
                <a16:creationId xmlns:a16="http://schemas.microsoft.com/office/drawing/2014/main" id="{87875C76-60BF-63E2-FA6D-60B4A34D2F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5542" y="5380505"/>
            <a:ext cx="5386457" cy="147732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pt-BR" altLang="pt-BR" dirty="0">
                <a:latin typeface="Arial" panose="020B0604020202020204" pitchFamily="34" charset="0"/>
              </a:rPr>
              <a:t>Conscientizar sobre prevenção de acidentes de trabalho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pt-BR" altLang="pt-BR" dirty="0">
                <a:latin typeface="Arial" panose="020B0604020202020204" pitchFamily="34" charset="0"/>
              </a:rPr>
              <a:t>Promover ambientes laborais mais seguros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pt-BR" altLang="pt-BR" dirty="0">
                <a:latin typeface="Arial" panose="020B0604020202020204" pitchFamily="34" charset="0"/>
              </a:rPr>
              <a:t>Reforçar o uso de EPIs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pt-BR" altLang="pt-BR" dirty="0">
                <a:latin typeface="Arial" panose="020B0604020202020204" pitchFamily="34" charset="0"/>
              </a:rPr>
              <a:t>Valorizar a saúde física e mental do trabalhador</a:t>
            </a:r>
          </a:p>
        </p:txBody>
      </p:sp>
    </p:spTree>
    <p:extLst>
      <p:ext uri="{BB962C8B-B14F-4D97-AF65-F5344CB8AC3E}">
        <p14:creationId xmlns:p14="http://schemas.microsoft.com/office/powerpoint/2010/main" val="34988169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  <p:sndAc>
          <p:stSnd>
            <p:snd r:embed="rId2" name="type.wav"/>
          </p:stSnd>
        </p:sndAc>
      </p:transition>
    </mc:Choice>
    <mc:Fallback>
      <p:transition spd="slow">
        <p:fade/>
        <p:sndAc>
          <p:stSnd>
            <p:snd r:embed="rId2" name="type.wav"/>
          </p:stSnd>
        </p:sndAc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416EB-D3A4-0C3B-9B36-61B8A2B05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Agrupar 7">
            <a:extLst>
              <a:ext uri="{FF2B5EF4-FFF2-40B4-BE49-F238E27FC236}">
                <a16:creationId xmlns:a16="http://schemas.microsoft.com/office/drawing/2014/main" id="{F662DBEC-9F10-FA90-6441-0231A7601DD2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grpSp>
          <p:nvGrpSpPr>
            <p:cNvPr id="16" name="Agrupar 15">
              <a:extLst>
                <a:ext uri="{FF2B5EF4-FFF2-40B4-BE49-F238E27FC236}">
                  <a16:creationId xmlns:a16="http://schemas.microsoft.com/office/drawing/2014/main" id="{18964983-E9B6-EEA0-C492-2B74916978F7}"/>
                </a:ext>
              </a:extLst>
            </p:cNvPr>
            <p:cNvGrpSpPr/>
            <p:nvPr/>
          </p:nvGrpSpPr>
          <p:grpSpPr>
            <a:xfrm>
              <a:off x="0" y="0"/>
              <a:ext cx="12192000" cy="6858000"/>
              <a:chOff x="0" y="0"/>
              <a:chExt cx="12192000" cy="6858000"/>
            </a:xfrm>
          </p:grpSpPr>
          <p:pic>
            <p:nvPicPr>
              <p:cNvPr id="5" name="Imagem 4" descr="Uma imagem contendo esporte, homem, água, colorido&#10;&#10;O conteúdo gerado por IA pode estar incorreto.">
                <a:extLst>
                  <a:ext uri="{FF2B5EF4-FFF2-40B4-BE49-F238E27FC236}">
                    <a16:creationId xmlns:a16="http://schemas.microsoft.com/office/drawing/2014/main" id="{37C5DABE-7FD8-2B33-96F3-8B84A3C9D52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  <p:sp>
            <p:nvSpPr>
              <p:cNvPr id="2" name="Retângulo 1">
                <a:extLst>
                  <a:ext uri="{FF2B5EF4-FFF2-40B4-BE49-F238E27FC236}">
                    <a16:creationId xmlns:a16="http://schemas.microsoft.com/office/drawing/2014/main" id="{0F9E45AD-2A41-6405-2F0A-05F7DD2B4266}"/>
                  </a:ext>
                </a:extLst>
              </p:cNvPr>
              <p:cNvSpPr/>
              <p:nvPr/>
            </p:nvSpPr>
            <p:spPr>
              <a:xfrm>
                <a:off x="4492035" y="379118"/>
                <a:ext cx="3207930" cy="144655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90500" dist="228600" dir="2700000" algn="ctr">
                  <a:srgbClr val="000000">
                    <a:alpha val="30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glow" dir="t">
                  <a:rot lat="0" lon="0" rev="4800000"/>
                </a:lightRig>
              </a:scene3d>
              <a:sp3d prstMaterial="matte">
                <a:bevelT w="127000" h="63500"/>
              </a:sp3d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pt-BR" sz="8800" b="1" dirty="0">
                    <a:ln w="0"/>
                    <a:solidFill>
                      <a:srgbClr val="5997D2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ABRIL</a:t>
                </a:r>
                <a:endParaRPr lang="pt-BR" sz="8800" b="1" cap="none" spc="0" dirty="0">
                  <a:ln w="0"/>
                  <a:solidFill>
                    <a:srgbClr val="5997D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pic>
            <p:nvPicPr>
              <p:cNvPr id="9" name="Imagem 8" descr="Imagem digital fictícia de personagem de desenho animado&#10;&#10;O conteúdo gerado por IA pode estar incorreto.">
                <a:extLst>
                  <a:ext uri="{FF2B5EF4-FFF2-40B4-BE49-F238E27FC236}">
                    <a16:creationId xmlns:a16="http://schemas.microsoft.com/office/drawing/2014/main" id="{D9E24395-DF2A-E7BB-5886-53F98101EF0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1462" t="11612" r="23141" b="10578"/>
              <a:stretch>
                <a:fillRect/>
              </a:stretch>
            </p:blipFill>
            <p:spPr>
              <a:xfrm>
                <a:off x="4492035" y="1825668"/>
                <a:ext cx="2638269" cy="3705702"/>
              </a:xfrm>
              <a:prstGeom prst="rect">
                <a:avLst/>
              </a:prstGeom>
            </p:spPr>
          </p:pic>
          <p:pic>
            <p:nvPicPr>
              <p:cNvPr id="11" name="Imagem 10">
                <a:extLst>
                  <a:ext uri="{FF2B5EF4-FFF2-40B4-BE49-F238E27FC236}">
                    <a16:creationId xmlns:a16="http://schemas.microsoft.com/office/drawing/2014/main" id="{88E6D987-F369-646A-9377-6111C7B22A2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alphaModFix amt="20000"/>
              </a:blip>
              <a:stretch>
                <a:fillRect/>
              </a:stretch>
            </p:blipFill>
            <p:spPr>
              <a:xfrm>
                <a:off x="6081010" y="981024"/>
                <a:ext cx="199869" cy="199869"/>
              </a:xfrm>
              <a:prstGeom prst="rect">
                <a:avLst/>
              </a:prstGeom>
            </p:spPr>
          </p:pic>
          <p:pic>
            <p:nvPicPr>
              <p:cNvPr id="12" name="Imagem 11">
                <a:extLst>
                  <a:ext uri="{FF2B5EF4-FFF2-40B4-BE49-F238E27FC236}">
                    <a16:creationId xmlns:a16="http://schemas.microsoft.com/office/drawing/2014/main" id="{13949CE5-3535-EA55-A5B4-C989C79D787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alphaModFix amt="20000"/>
              </a:blip>
              <a:stretch>
                <a:fillRect/>
              </a:stretch>
            </p:blipFill>
            <p:spPr>
              <a:xfrm>
                <a:off x="5376472" y="981024"/>
                <a:ext cx="199869" cy="199869"/>
              </a:xfrm>
              <a:prstGeom prst="rect">
                <a:avLst/>
              </a:prstGeom>
            </p:spPr>
          </p:pic>
          <p:pic>
            <p:nvPicPr>
              <p:cNvPr id="13" name="Imagem 12">
                <a:extLst>
                  <a:ext uri="{FF2B5EF4-FFF2-40B4-BE49-F238E27FC236}">
                    <a16:creationId xmlns:a16="http://schemas.microsoft.com/office/drawing/2014/main" id="{3AADAD40-B216-99DA-ADF3-336B5B8FF1C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alphaModFix amt="20000"/>
              </a:blip>
              <a:stretch>
                <a:fillRect/>
              </a:stretch>
            </p:blipFill>
            <p:spPr>
              <a:xfrm>
                <a:off x="6770558" y="981024"/>
                <a:ext cx="199869" cy="199869"/>
              </a:xfrm>
              <a:prstGeom prst="rect">
                <a:avLst/>
              </a:prstGeom>
            </p:spPr>
          </p:pic>
          <p:pic>
            <p:nvPicPr>
              <p:cNvPr id="14" name="Imagem 13">
                <a:extLst>
                  <a:ext uri="{FF2B5EF4-FFF2-40B4-BE49-F238E27FC236}">
                    <a16:creationId xmlns:a16="http://schemas.microsoft.com/office/drawing/2014/main" id="{97EA7FE6-2AD9-C93E-491D-D900AF6350A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alphaModFix amt="20000"/>
              </a:blip>
              <a:stretch>
                <a:fillRect/>
              </a:stretch>
            </p:blipFill>
            <p:spPr>
              <a:xfrm>
                <a:off x="7130304" y="981024"/>
                <a:ext cx="199869" cy="199869"/>
              </a:xfrm>
              <a:prstGeom prst="rect">
                <a:avLst/>
              </a:prstGeom>
            </p:spPr>
          </p:pic>
          <p:pic>
            <p:nvPicPr>
              <p:cNvPr id="15" name="Imagem 14">
                <a:extLst>
                  <a:ext uri="{FF2B5EF4-FFF2-40B4-BE49-F238E27FC236}">
                    <a16:creationId xmlns:a16="http://schemas.microsoft.com/office/drawing/2014/main" id="{8CCE3D02-943F-C337-6030-D3A1FE8DBEE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alphaModFix amt="20000"/>
              </a:blip>
              <a:stretch>
                <a:fillRect/>
              </a:stretch>
            </p:blipFill>
            <p:spPr>
              <a:xfrm>
                <a:off x="4856777" y="1114251"/>
                <a:ext cx="199869" cy="199869"/>
              </a:xfrm>
              <a:prstGeom prst="rect">
                <a:avLst/>
              </a:prstGeom>
            </p:spPr>
          </p:pic>
        </p:grpSp>
        <p:sp>
          <p:nvSpPr>
            <p:cNvPr id="21" name="Retângulo 20">
              <a:extLst>
                <a:ext uri="{FF2B5EF4-FFF2-40B4-BE49-F238E27FC236}">
                  <a16:creationId xmlns:a16="http://schemas.microsoft.com/office/drawing/2014/main" id="{22ED0334-677F-D117-C88E-DD53D43DB6EC}"/>
                </a:ext>
              </a:extLst>
            </p:cNvPr>
            <p:cNvSpPr/>
            <p:nvPr/>
          </p:nvSpPr>
          <p:spPr>
            <a:xfrm>
              <a:off x="1515606" y="2138299"/>
              <a:ext cx="1829347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  <a:scene3d>
                <a:camera prst="orthographicFront"/>
                <a:lightRig rig="soft" dir="t">
                  <a:rot lat="0" lon="0" rev="15600000"/>
                </a:lightRig>
              </a:scene3d>
              <a:sp3d extrusionH="57150" prstMaterial="softEdge">
                <a:bevelT w="25400" h="38100"/>
              </a:sp3d>
            </a:bodyPr>
            <a:lstStyle/>
            <a:p>
              <a:pPr algn="ctr"/>
              <a:r>
                <a:rPr lang="pt-BR" sz="5400" b="1" dirty="0">
                  <a:ln/>
                  <a:solidFill>
                    <a:schemeClr val="accent4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AZUL</a:t>
              </a:r>
              <a:endParaRPr lang="pt-BR" sz="5400" b="1" cap="none" spc="0" dirty="0">
                <a:ln/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3" name="CaixaDeTexto 22">
              <a:extLst>
                <a:ext uri="{FF2B5EF4-FFF2-40B4-BE49-F238E27FC236}">
                  <a16:creationId xmlns:a16="http://schemas.microsoft.com/office/drawing/2014/main" id="{29DC862B-C573-A00B-1D1E-35AAB5B7F174}"/>
                </a:ext>
              </a:extLst>
            </p:cNvPr>
            <p:cNvSpPr txBox="1"/>
            <p:nvPr/>
          </p:nvSpPr>
          <p:spPr>
            <a:xfrm>
              <a:off x="269820" y="3221586"/>
              <a:ext cx="4860561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2400" b="1" dirty="0"/>
                <a:t>Conscientização sobre o Autismo</a:t>
              </a:r>
            </a:p>
          </p:txBody>
        </p:sp>
        <p:sp>
          <p:nvSpPr>
            <p:cNvPr id="26" name="CaixaDeTexto 25">
              <a:extLst>
                <a:ext uri="{FF2B5EF4-FFF2-40B4-BE49-F238E27FC236}">
                  <a16:creationId xmlns:a16="http://schemas.microsoft.com/office/drawing/2014/main" id="{CF347591-EF62-8A0F-D41C-BCA3D17A6A90}"/>
                </a:ext>
              </a:extLst>
            </p:cNvPr>
            <p:cNvSpPr txBox="1"/>
            <p:nvPr/>
          </p:nvSpPr>
          <p:spPr>
            <a:xfrm>
              <a:off x="4848373" y="1652733"/>
              <a:ext cx="2495254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pt-BR"/>
              </a:defPPr>
              <a:lvl1pPr>
                <a:defRPr sz="2400" b="1"/>
              </a:lvl1pPr>
            </a:lstStyle>
            <a:p>
              <a:r>
                <a:rPr lang="pt-BR" dirty="0"/>
                <a:t>Ações Sugeridas</a:t>
              </a:r>
            </a:p>
          </p:txBody>
        </p:sp>
        <p:sp>
          <p:nvSpPr>
            <p:cNvPr id="36" name="Retângulo 35">
              <a:extLst>
                <a:ext uri="{FF2B5EF4-FFF2-40B4-BE49-F238E27FC236}">
                  <a16:creationId xmlns:a16="http://schemas.microsoft.com/office/drawing/2014/main" id="{00DC979A-B43A-3A7B-B079-D54F5F1E010A}"/>
                </a:ext>
              </a:extLst>
            </p:cNvPr>
            <p:cNvSpPr/>
            <p:nvPr/>
          </p:nvSpPr>
          <p:spPr>
            <a:xfrm>
              <a:off x="8731410" y="2173641"/>
              <a:ext cx="2334293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  <a:scene3d>
                <a:camera prst="orthographicFront"/>
                <a:lightRig rig="harsh" dir="t"/>
              </a:scene3d>
              <a:sp3d extrusionH="57150" prstMaterial="matte">
                <a:bevelT w="63500" h="12700" prst="angle"/>
                <a:contourClr>
                  <a:schemeClr val="bg1">
                    <a:lumMod val="65000"/>
                  </a:schemeClr>
                </a:contourClr>
              </a:sp3d>
            </a:bodyPr>
            <a:lstStyle/>
            <a:p>
              <a:pPr algn="ctr"/>
              <a:r>
                <a:rPr lang="pt-BR" sz="5400" b="1" cap="none" spc="0" dirty="0">
                  <a:ln/>
                  <a:solidFill>
                    <a:schemeClr val="accent3"/>
                  </a:solidFill>
                  <a:effectLst/>
                </a:rPr>
                <a:t>VERDE</a:t>
              </a:r>
            </a:p>
          </p:txBody>
        </p:sp>
        <p:sp>
          <p:nvSpPr>
            <p:cNvPr id="38" name="CaixaDeTexto 37">
              <a:extLst>
                <a:ext uri="{FF2B5EF4-FFF2-40B4-BE49-F238E27FC236}">
                  <a16:creationId xmlns:a16="http://schemas.microsoft.com/office/drawing/2014/main" id="{F696E57A-E73E-54B1-92E1-FC17E9FC7D87}"/>
                </a:ext>
              </a:extLst>
            </p:cNvPr>
            <p:cNvSpPr txBox="1"/>
            <p:nvPr/>
          </p:nvSpPr>
          <p:spPr>
            <a:xfrm>
              <a:off x="7270213" y="3248081"/>
              <a:ext cx="4512056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pt-BR"/>
              </a:defPPr>
              <a:lvl1pPr>
                <a:defRPr sz="2400" b="1"/>
              </a:lvl1pPr>
            </a:lstStyle>
            <a:p>
              <a:r>
                <a:rPr lang="pt-BR" dirty="0"/>
                <a:t>Segurança e Saúde no Trabalho</a:t>
              </a:r>
            </a:p>
          </p:txBody>
        </p:sp>
      </p:grpSp>
      <p:sp>
        <p:nvSpPr>
          <p:cNvPr id="6" name="Rectangle 2">
            <a:extLst>
              <a:ext uri="{FF2B5EF4-FFF2-40B4-BE49-F238E27FC236}">
                <a16:creationId xmlns:a16="http://schemas.microsoft.com/office/drawing/2014/main" id="{1FCE1426-15CA-3791-9965-55A8F53B20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653917"/>
            <a:ext cx="5376472" cy="120032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pt-BR" altLang="pt-BR" dirty="0">
                <a:latin typeface="Arial" panose="020B0604020202020204" pitchFamily="34" charset="0"/>
              </a:rPr>
              <a:t>Palestras sobre inclusão e diversidade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pt-BR" altLang="pt-BR" dirty="0">
                <a:latin typeface="Arial" panose="020B0604020202020204" pitchFamily="34" charset="0"/>
              </a:rPr>
              <a:t>Campanhas educativas nas redes sociais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pt-BR" altLang="pt-BR" dirty="0">
                <a:latin typeface="Arial" panose="020B0604020202020204" pitchFamily="34" charset="0"/>
              </a:rPr>
              <a:t>Depoimentos e histórias de inclusão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pt-BR" altLang="pt-BR" dirty="0">
                <a:latin typeface="Arial" panose="020B0604020202020204" pitchFamily="34" charset="0"/>
              </a:rPr>
              <a:t>Dia temático com uso da cor azul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0F89262B-3941-8A2B-FD35-FBA2106FF4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5528" y="5657671"/>
            <a:ext cx="5386457" cy="120032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pt-BR" altLang="pt-BR" dirty="0">
                <a:latin typeface="Arial" panose="020B0604020202020204" pitchFamily="34" charset="0"/>
              </a:rPr>
              <a:t>DDS (Diálogo Diário de Segurança)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pt-BR" altLang="pt-BR" dirty="0">
                <a:latin typeface="Arial" panose="020B0604020202020204" pitchFamily="34" charset="0"/>
              </a:rPr>
              <a:t>Treinamentos sobre prevenção de acidentes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pt-BR" altLang="pt-BR" dirty="0">
                <a:latin typeface="Arial" panose="020B0604020202020204" pitchFamily="34" charset="0"/>
              </a:rPr>
              <a:t>Revisão de protocolos de segurança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pt-BR" altLang="pt-BR" dirty="0">
                <a:latin typeface="Arial" panose="020B0604020202020204" pitchFamily="34" charset="0"/>
              </a:rPr>
              <a:t>Semana interna de prevenção</a:t>
            </a:r>
          </a:p>
        </p:txBody>
      </p:sp>
    </p:spTree>
    <p:extLst>
      <p:ext uri="{BB962C8B-B14F-4D97-AF65-F5344CB8AC3E}">
        <p14:creationId xmlns:p14="http://schemas.microsoft.com/office/powerpoint/2010/main" val="190377669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  <p:sndAc>
          <p:stSnd>
            <p:snd r:embed="rId2" name="type.wav"/>
          </p:stSnd>
        </p:sndAc>
      </p:transition>
    </mc:Choice>
    <mc:Fallback>
      <p:transition spd="slow">
        <p:fade/>
        <p:sndAc>
          <p:stSnd>
            <p:snd r:embed="rId2" name="type.wav"/>
          </p:stSnd>
        </p:sndAc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26D58-3A2E-8D6D-F510-2A65B7E0E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Agrupar 15">
            <a:extLst>
              <a:ext uri="{FF2B5EF4-FFF2-40B4-BE49-F238E27FC236}">
                <a16:creationId xmlns:a16="http://schemas.microsoft.com/office/drawing/2014/main" id="{1A814290-09EA-A3AC-5E32-1E7CA4BBC15A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5" name="Imagem 4" descr="Uma imagem contendo esporte, homem, água, colorido&#10;&#10;O conteúdo gerado por IA pode estar incorreto.">
              <a:extLst>
                <a:ext uri="{FF2B5EF4-FFF2-40B4-BE49-F238E27FC236}">
                  <a16:creationId xmlns:a16="http://schemas.microsoft.com/office/drawing/2014/main" id="{BD7974E5-62CF-7A0B-B41F-BEF738F4A1B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2" name="Retângulo 1">
              <a:extLst>
                <a:ext uri="{FF2B5EF4-FFF2-40B4-BE49-F238E27FC236}">
                  <a16:creationId xmlns:a16="http://schemas.microsoft.com/office/drawing/2014/main" id="{BACA3ED9-79A7-A5DC-085D-4376182B4233}"/>
                </a:ext>
              </a:extLst>
            </p:cNvPr>
            <p:cNvSpPr/>
            <p:nvPr/>
          </p:nvSpPr>
          <p:spPr>
            <a:xfrm>
              <a:off x="4492035" y="379118"/>
              <a:ext cx="3207930" cy="1446550"/>
            </a:xfrm>
            <a:prstGeom prst="rect">
              <a:avLst/>
            </a:prstGeom>
            <a:noFill/>
            <a:ln>
              <a:noFill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pt-BR" sz="8800" b="1" dirty="0">
                  <a:ln w="0"/>
                  <a:solidFill>
                    <a:srgbClr val="5997D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ABRIL</a:t>
              </a:r>
              <a:endParaRPr lang="pt-BR" sz="8800" b="1" cap="none" spc="0" dirty="0">
                <a:ln w="0"/>
                <a:solidFill>
                  <a:srgbClr val="5997D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pic>
          <p:nvPicPr>
            <p:cNvPr id="9" name="Imagem 8" descr="Imagem digital fictícia de personagem de desenho animado&#10;&#10;O conteúdo gerado por IA pode estar incorreto.">
              <a:extLst>
                <a:ext uri="{FF2B5EF4-FFF2-40B4-BE49-F238E27FC236}">
                  <a16:creationId xmlns:a16="http://schemas.microsoft.com/office/drawing/2014/main" id="{1344A854-7F0D-704A-5B6E-4C3AAA43510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462" t="11612" r="23141" b="10578"/>
            <a:stretch>
              <a:fillRect/>
            </a:stretch>
          </p:blipFill>
          <p:spPr>
            <a:xfrm>
              <a:off x="4492035" y="1825668"/>
              <a:ext cx="2638269" cy="3705702"/>
            </a:xfrm>
            <a:prstGeom prst="rect">
              <a:avLst/>
            </a:prstGeom>
          </p:spPr>
        </p:pic>
        <p:pic>
          <p:nvPicPr>
            <p:cNvPr id="11" name="Imagem 10">
              <a:extLst>
                <a:ext uri="{FF2B5EF4-FFF2-40B4-BE49-F238E27FC236}">
                  <a16:creationId xmlns:a16="http://schemas.microsoft.com/office/drawing/2014/main" id="{E9BB3505-C05E-F654-C591-FD000CBBDA2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alphaModFix amt="20000"/>
            </a:blip>
            <a:stretch>
              <a:fillRect/>
            </a:stretch>
          </p:blipFill>
          <p:spPr>
            <a:xfrm>
              <a:off x="6081010" y="981024"/>
              <a:ext cx="199869" cy="199869"/>
            </a:xfrm>
            <a:prstGeom prst="rect">
              <a:avLst/>
            </a:prstGeom>
          </p:spPr>
        </p:pic>
        <p:pic>
          <p:nvPicPr>
            <p:cNvPr id="12" name="Imagem 11">
              <a:extLst>
                <a:ext uri="{FF2B5EF4-FFF2-40B4-BE49-F238E27FC236}">
                  <a16:creationId xmlns:a16="http://schemas.microsoft.com/office/drawing/2014/main" id="{1D497C7B-A315-09B1-61F6-A9D88DECF2B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alphaModFix amt="20000"/>
            </a:blip>
            <a:stretch>
              <a:fillRect/>
            </a:stretch>
          </p:blipFill>
          <p:spPr>
            <a:xfrm>
              <a:off x="5376472" y="981024"/>
              <a:ext cx="199869" cy="199869"/>
            </a:xfrm>
            <a:prstGeom prst="rect">
              <a:avLst/>
            </a:prstGeom>
          </p:spPr>
        </p:pic>
        <p:pic>
          <p:nvPicPr>
            <p:cNvPr id="13" name="Imagem 12">
              <a:extLst>
                <a:ext uri="{FF2B5EF4-FFF2-40B4-BE49-F238E27FC236}">
                  <a16:creationId xmlns:a16="http://schemas.microsoft.com/office/drawing/2014/main" id="{1DD6AF81-DDB7-FC63-E4D6-96BF41AB1F1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alphaModFix amt="20000"/>
            </a:blip>
            <a:stretch>
              <a:fillRect/>
            </a:stretch>
          </p:blipFill>
          <p:spPr>
            <a:xfrm>
              <a:off x="6770558" y="981024"/>
              <a:ext cx="199869" cy="199869"/>
            </a:xfrm>
            <a:prstGeom prst="rect">
              <a:avLst/>
            </a:prstGeom>
          </p:spPr>
        </p:pic>
        <p:pic>
          <p:nvPicPr>
            <p:cNvPr id="14" name="Imagem 13">
              <a:extLst>
                <a:ext uri="{FF2B5EF4-FFF2-40B4-BE49-F238E27FC236}">
                  <a16:creationId xmlns:a16="http://schemas.microsoft.com/office/drawing/2014/main" id="{8A6FB06A-68D5-6D4B-1E77-33C3D3EFE29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alphaModFix amt="20000"/>
            </a:blip>
            <a:stretch>
              <a:fillRect/>
            </a:stretch>
          </p:blipFill>
          <p:spPr>
            <a:xfrm>
              <a:off x="7130304" y="981024"/>
              <a:ext cx="199869" cy="199869"/>
            </a:xfrm>
            <a:prstGeom prst="rect">
              <a:avLst/>
            </a:prstGeom>
          </p:spPr>
        </p:pic>
        <p:pic>
          <p:nvPicPr>
            <p:cNvPr id="15" name="Imagem 14">
              <a:extLst>
                <a:ext uri="{FF2B5EF4-FFF2-40B4-BE49-F238E27FC236}">
                  <a16:creationId xmlns:a16="http://schemas.microsoft.com/office/drawing/2014/main" id="{7238B916-DF0F-FADF-57EB-AD64089387D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alphaModFix amt="20000"/>
            </a:blip>
            <a:stretch>
              <a:fillRect/>
            </a:stretch>
          </p:blipFill>
          <p:spPr>
            <a:xfrm>
              <a:off x="4856777" y="1114251"/>
              <a:ext cx="199869" cy="199869"/>
            </a:xfrm>
            <a:prstGeom prst="rect">
              <a:avLst/>
            </a:prstGeom>
          </p:spPr>
        </p:pic>
      </p:grp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7185D715-F556-8726-A2B5-2752031F1003}"/>
              </a:ext>
            </a:extLst>
          </p:cNvPr>
          <p:cNvSpPr txBox="1"/>
          <p:nvPr/>
        </p:nvSpPr>
        <p:spPr>
          <a:xfrm>
            <a:off x="4717630" y="1652733"/>
            <a:ext cx="27567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>
              <a:defRPr sz="2400" b="1"/>
            </a:lvl1pPr>
          </a:lstStyle>
          <a:p>
            <a:r>
              <a:rPr lang="pt-BR" dirty="0"/>
              <a:t>Identidade Visual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9195644-12A1-9BF0-D560-E7E6CB8085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380672"/>
            <a:ext cx="6147837" cy="147732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pt-BR" altLang="pt-BR" dirty="0">
                <a:latin typeface="Arial" panose="020B0604020202020204" pitchFamily="34" charset="0"/>
              </a:rPr>
              <a:t>Uso de roupas azul ou verde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pt-BR" altLang="pt-BR" dirty="0">
                <a:latin typeface="Arial" panose="020B0604020202020204" pitchFamily="34" charset="0"/>
              </a:rPr>
              <a:t>Laço azul (Autismo)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pt-BR" altLang="pt-BR" dirty="0">
                <a:latin typeface="Arial" panose="020B0604020202020204" pitchFamily="34" charset="0"/>
              </a:rPr>
              <a:t>Laço verde (Segurança do Trabalho)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pt-BR" altLang="pt-BR" dirty="0">
                <a:latin typeface="Arial" panose="020B0604020202020204" pitchFamily="34" charset="0"/>
              </a:rPr>
              <a:t>Acessórios e decoração nas cores da campanha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pt-BR" altLang="pt-BR" dirty="0">
                <a:latin typeface="Arial" panose="020B0604020202020204" pitchFamily="34" charset="0"/>
              </a:rPr>
              <a:t>Fachadas e ambientes iluminados nas cores temáticas</a:t>
            </a:r>
          </a:p>
        </p:txBody>
      </p:sp>
    </p:spTree>
    <p:extLst>
      <p:ext uri="{BB962C8B-B14F-4D97-AF65-F5344CB8AC3E}">
        <p14:creationId xmlns:p14="http://schemas.microsoft.com/office/powerpoint/2010/main" val="418237292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  <p:sndAc>
          <p:stSnd>
            <p:snd r:embed="rId2" name="type.wav"/>
          </p:stSnd>
        </p:sndAc>
      </p:transition>
    </mc:Choice>
    <mc:Fallback>
      <p:transition spd="slow">
        <p:fade/>
        <p:sndAc>
          <p:stSnd>
            <p:snd r:embed="rId2" name="type.wav"/>
          </p:stSnd>
        </p:sndAc>
      </p:transition>
    </mc:Fallback>
  </mc:AlternateContent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165</Words>
  <Application>Microsoft Office PowerPoint</Application>
  <PresentationFormat>Widescreen</PresentationFormat>
  <Paragraphs>37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Jônatan Viana</dc:creator>
  <cp:lastModifiedBy>Jônatan Viana</cp:lastModifiedBy>
  <cp:revision>1</cp:revision>
  <dcterms:created xsi:type="dcterms:W3CDTF">2026-02-21T15:55:43Z</dcterms:created>
  <dcterms:modified xsi:type="dcterms:W3CDTF">2026-02-21T16:33:58Z</dcterms:modified>
</cp:coreProperties>
</file>